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13456a0d6146ec" /><Relationship Type="http://schemas.openxmlformats.org/officeDocument/2006/relationships/extended-properties" Target="/docProps/app.xml" Id="Rcc1efa0cd6f34871" /><Relationship Type="http://schemas.openxmlformats.org/officeDocument/2006/relationships/officeDocument" Target="/ppt/presentation.xml" Id="Rbc39f8a7e3d943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375f63d7e64b21"/>
  </p:sldMasterIdLst>
  <p:notesMasterIdLst>
    <p:notesMasterId xmlns:r="http://schemas.openxmlformats.org/officeDocument/2006/relationships" r:id="Rfd71b074e419424d"/>
  </p:notesMasterIdLst>
  <p:sldIdLst>
    <p:sldId xmlns:r="http://schemas.openxmlformats.org/officeDocument/2006/relationships" id="256" r:id="Rae7a99100e5c48f6"/>
    <p:sldId xmlns:r="http://schemas.openxmlformats.org/officeDocument/2006/relationships" id="257" r:id="R9e4974b1265b427e"/>
    <p:sldId xmlns:r="http://schemas.openxmlformats.org/officeDocument/2006/relationships" id="258" r:id="R3da6ab9b5e7048f2"/>
    <p:sldId xmlns:r="http://schemas.openxmlformats.org/officeDocument/2006/relationships" id="259" r:id="R82149c0691af444d"/>
    <p:sldId xmlns:r="http://schemas.openxmlformats.org/officeDocument/2006/relationships" id="260" r:id="R5f5b58fabf874a25"/>
    <p:sldId xmlns:r="http://schemas.openxmlformats.org/officeDocument/2006/relationships" id="261" r:id="Rc010a643c9a64f4b"/>
    <p:sldId xmlns:r="http://schemas.openxmlformats.org/officeDocument/2006/relationships" id="262" r:id="R9df0ab1f77df4fe1"/>
    <p:sldId xmlns:r="http://schemas.openxmlformats.org/officeDocument/2006/relationships" id="263" r:id="R92acc3b063714aa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c77e83e2eaa4a0e" /><Relationship Type="http://schemas.openxmlformats.org/officeDocument/2006/relationships/slideMaster" Target="/ppt/slideMasters/slideMaster1.xml" Id="R1e375f63d7e64b21" /><Relationship Type="http://schemas.openxmlformats.org/officeDocument/2006/relationships/notesMaster" Target="/ppt/notesMasters/notesMaster1.xml" Id="Rfd71b074e419424d" /><Relationship Type="http://schemas.openxmlformats.org/officeDocument/2006/relationships/presProps" Target="/ppt/presProps.xml" Id="Rdd81a9f8c2fe4b64" /><Relationship Type="http://schemas.openxmlformats.org/officeDocument/2006/relationships/tableStyles" Target="/ppt/tableStyles.xml" Id="R6d28ff0ebcca4bf1" /><Relationship Type="http://schemas.openxmlformats.org/officeDocument/2006/relationships/slide" Target="/ppt/slides/slide1.xml" Id="Rae7a99100e5c48f6" /><Relationship Type="http://schemas.openxmlformats.org/officeDocument/2006/relationships/slide" Target="/ppt/slides/slide2.xml" Id="R9e4974b1265b427e" /><Relationship Type="http://schemas.openxmlformats.org/officeDocument/2006/relationships/slide" Target="/ppt/slides/slide3.xml" Id="R3da6ab9b5e7048f2" /><Relationship Type="http://schemas.openxmlformats.org/officeDocument/2006/relationships/slide" Target="/ppt/slides/slide4.xml" Id="R82149c0691af444d" /><Relationship Type="http://schemas.openxmlformats.org/officeDocument/2006/relationships/slide" Target="/ppt/slides/slide5.xml" Id="R5f5b58fabf874a25" /><Relationship Type="http://schemas.openxmlformats.org/officeDocument/2006/relationships/slide" Target="/ppt/slides/slide6.xml" Id="Rc010a643c9a64f4b" /><Relationship Type="http://schemas.openxmlformats.org/officeDocument/2006/relationships/slide" Target="/ppt/slides/slide7.xml" Id="R9df0ab1f77df4fe1" /><Relationship Type="http://schemas.openxmlformats.org/officeDocument/2006/relationships/slide" Target="/ppt/slides/slide8.xml" Id="R92acc3b063714aa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6452ca456d425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27e6a9e9e64ef1" /><Relationship Type="http://schemas.openxmlformats.org/officeDocument/2006/relationships/notesMaster" Target="/ppt/notesMasters/notesMaster1.xml" Id="R0a5c4b9088314eb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022f578b95415b" /><Relationship Type="http://schemas.openxmlformats.org/officeDocument/2006/relationships/notesMaster" Target="/ppt/notesMasters/notesMaster1.xml" Id="R740a07c303de49a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e39c7265aa54136" /><Relationship Type="http://schemas.openxmlformats.org/officeDocument/2006/relationships/notesMaster" Target="/ppt/notesMasters/notesMaster1.xml" Id="R50409a6ebf6f44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b5a30c4a224b75" /><Relationship Type="http://schemas.openxmlformats.org/officeDocument/2006/relationships/notesMaster" Target="/ppt/notesMasters/notesMaster1.xml" Id="R1f3eb19223cc40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c0d79ad0e664510" /><Relationship Type="http://schemas.openxmlformats.org/officeDocument/2006/relationships/notesMaster" Target="/ppt/notesMasters/notesMaster1.xml" Id="Rb6b2bede69ed41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282df017aae4767" /><Relationship Type="http://schemas.openxmlformats.org/officeDocument/2006/relationships/notesMaster" Target="/ppt/notesMasters/notesMaster1.xml" Id="R30ffaa992dc44f3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3a931204aff4a1a" /><Relationship Type="http://schemas.openxmlformats.org/officeDocument/2006/relationships/notesMaster" Target="/ppt/notesMasters/notesMaster1.xml" Id="R232294b8529544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72fbb0e6b2f444e" /><Relationship Type="http://schemas.openxmlformats.org/officeDocument/2006/relationships/notesMaster" Target="/ppt/notesMasters/notesMaster1.xml" Id="Rcd3725bb4cb744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0:00-0:45 — Open with the design thesis. Do not introduce every technology yet; establish that generation and physical feasibility are intentionally separated.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0:45-1:40 — Explain why this is not solved by prompting alone. The core requirement is a schedule that is both understandable and machine-valid.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1:40-2:35 — Name the three official datasets and immediately state the limitation. The Open Data portal was also observed returning a temporary high-load warning during verification, which reinforces the frozen-demo fallback decision.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https://opendata.elia.be/explore/dataset/ods002/</a:t>
            </a:r>
          </a:p>
          <a:p xmlns:a="http://schemas.openxmlformats.org/drawingml/2006/main">
            <a:r>
              <a:t>- https://opendata.elia.be/explore/dataset/ods086/</a:t>
            </a:r>
          </a:p>
          <a:p xmlns:a="http://schemas.openxmlformats.org/drawingml/2006/main">
            <a:r>
              <a:t>- https://opendata.elia.be/explore/dataset/ods201/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2:35-3:40 — Walk left to right. Emphasize that MCP exposes real function contracts and that the OpenAI Responses API is optional and schema-constrained.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https://developers.openai.com/api/docs/guides/structured-outputs</a:t>
            </a:r>
          </a:p>
          <a:p xmlns:a="http://schemas.openxmlformats.org/drawingml/2006/main">
            <a:r>
              <a:t>- https://modelcontextprotocol.io/specification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3:40-4:30 — Explain the defect briefly. The important engineering point is that testing changed the algorithm from greedy placement to exhaustive joint constrained search.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4:30-7:10 — Run Morning + Balanced. Narrate the four pipeline stages, then point to €1.79, the 33/100 demo stress index, 4/4 constraints, retrieved evidence and the exact MCP tool names.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7:10-8:20 — Distinguish acceptance testing from model-quality evaluation. Defend 9/9 constraint passes, 100% cost non-regression, €2.17 to €1.79 for the morning fixture, deterministic output and EV retrieval rank 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8:20-10:00 — State the limits before the close. End on shared technical ownership: divide implementation work, but cross-review the complete path and rehearse the full question round.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a358afb42046f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f259e087ed45f0" /><Relationship Type="http://schemas.openxmlformats.org/officeDocument/2006/relationships/slideLayout" Target="/ppt/slideLayouts/slideLayout1.xml" Id="R6d57bb35dd8743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d57bb35dd8743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f7c0263047c4fdf" /><Relationship Type="http://schemas.openxmlformats.org/officeDocument/2006/relationships/notesSlide" Target="/ppt/notesSlides/notesSlide1.xml" Id="R2f6854c584d44e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c27a0e79254ee7" /><Relationship Type="http://schemas.openxmlformats.org/officeDocument/2006/relationships/notesSlide" Target="/ppt/notesSlides/notesSlide2.xml" Id="Rd3bf9df0c4fc49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c2e7851cc44e0f" /><Relationship Type="http://schemas.openxmlformats.org/officeDocument/2006/relationships/notesSlide" Target="/ppt/notesSlides/notesSlide3.xml" Id="R4024fc620e8849d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460b06eef4217" /><Relationship Type="http://schemas.openxmlformats.org/officeDocument/2006/relationships/notesSlide" Target="/ppt/notesSlides/notesSlide4.xml" Id="Rf37823d1e7ae42d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ec0c20c7f5480d" /><Relationship Type="http://schemas.openxmlformats.org/officeDocument/2006/relationships/notesSlide" Target="/ppt/notesSlides/notesSlide5.xml" Id="R867c77a00b3543e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fb1026db384804" /><Relationship Type="http://schemas.openxmlformats.org/officeDocument/2006/relationships/image" Target="/ppt/media/image.jpeg" Id="R16bfa280d5f04eea" /><Relationship Type="http://schemas.openxmlformats.org/officeDocument/2006/relationships/notesSlide" Target="/ppt/notesSlides/notesSlide6.xml" Id="Rd1d331593f3847b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d2a96895c4958" /><Relationship Type="http://schemas.openxmlformats.org/officeDocument/2006/relationships/chart" Target="/ppt/slides/charts/chart1.xml" Id="R31c77946789844ab" /><Relationship Type="http://schemas.openxmlformats.org/officeDocument/2006/relationships/notesSlide" Target="/ppt/notesSlides/notesSlide7.xml" Id="R124e292a5aa942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2538282abe48a0" /><Relationship Type="http://schemas.openxmlformats.org/officeDocument/2006/relationships/notesSlide" Target="/ppt/notesSlides/notesSlide8.xml" Id="R4f13f5e59a064092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Morning cost (€)</c:v>
          </c:tx>
          <c:spPr>
            <a:solidFill xmlns:a="http://schemas.openxmlformats.org/drawingml/2006/main">
              <a:srgbClr val="1C7C66"/>
            </a:solidFill>
          </c:spPr>
          <c:cat>
            <c:strLit>
              <c:ptCount val="2"/>
              <c:pt idx="0">
                <c:v>Earliest-start</c:v>
              </c:pt>
              <c:pt idx="1">
                <c:v>Optimized</c:v>
              </c:pt>
            </c:strLit>
          </c:cat>
          <c:val>
            <c:numLit>
              <c:formatCode>General</c:formatCode>
              <c:ptCount val="2"/>
              <c:pt idx="0">
                <c:v>2.17</c:v>
              </c:pt>
              <c:pt idx="1">
                <c:v>1.79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B1714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E6E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6352F"/>
                </a:solidFill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</c:spPr>
    </c:plotArea>
    <c:plotVisOnly val="1"/>
  </c:chart>
  <c:spPr>
    <a:solidFill xmlns:a="http://schemas.openxmlformats.org/drawingml/2006/main">
      <a:srgbClr val="FFFFFF"/>
    </a:solidFill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9B3ADD-308C-41AC-8B40-D2A92F45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3238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EE637"/>
          </a:solidFill>
          <a:ln xmlns:a="http://schemas.openxmlformats.org/drawingml/2006/main" w="0">
            <a:solidFill>
              <a:srgbClr val="AEE637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776139-AAF5-4939-A5DB-3788C7E0F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80010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C7C66"/>
                </a:solidFill>
              </a:defRPr>
            </a:pPr>
            <a:r>
              <a:rPr sz="1350" b="1">
                <a:solidFill>
                  <a:srgbClr val="1C7C66"/>
                </a:solidFill>
              </a:rPr>
              <a:t>GENERATIVE AI  /  PROJECT DEFENSE</a:t>
            </a:r>
          </a:p>
        </p:txBody>
      </p:sp>
      <p:sp>
        <p:nvSpPr>
          <p:cNvPr id="3" name="deck-title">
            <a:extLst xmlns:a="http://schemas.openxmlformats.org/drawingml/2006/main">
              <a:ext uri="{FF2B5EF4-FFF2-40B4-BE49-F238E27FC236}">
                <a16:creationId xmlns:a16="http://schemas.microsoft.com/office/drawing/2014/main" id="{26DEBA91-1D7C-423B-9202-D8D9FCB79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685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0B1714"/>
                </a:solidFill>
              </a:defRPr>
            </a:pPr>
            <a:r>
              <a:rPr sz="5400" b="1">
                <a:solidFill>
                  <a:srgbClr val="0B1714"/>
                </a:solidFill>
              </a:rPr>
              <a:t>FlexiGrid AI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A01BFF-A62A-4492-BF52-069E64A94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003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26352F"/>
                </a:solidFill>
              </a:defRPr>
            </a:pPr>
            <a:r>
              <a:rPr sz="2325">
                <a:solidFill>
                  <a:srgbClr val="26352F"/>
                </a:solidFill>
              </a:rPr>
              <a:t>Evidence-grounded household energy planning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AF4026-F3D1-40BE-A520-B5648242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24250"/>
            <a:ext cx="685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B15BB5-0DBB-4314-9EBF-FF0096D32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8096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6C7C76"/>
                </a:solidFill>
              </a:defRPr>
            </a:pPr>
            <a:r>
              <a:rPr sz="1500" b="1">
                <a:solidFill>
                  <a:srgbClr val="6C7C76"/>
                </a:solidFill>
              </a:rPr>
              <a:t>RAG  ·  MCP tools  ·  constrained search  ·  structured generation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028426-3AD3-4735-9CCD-DA31D61C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629150"/>
            <a:ext cx="97155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355EDF-6A0A-4AC2-83EC-7DD2D6512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8006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C7C66"/>
                </a:solidFill>
              </a:defRPr>
            </a:pPr>
            <a:r>
              <a:rPr sz="1350" b="1">
                <a:solidFill>
                  <a:srgbClr val="1C7C66"/>
                </a:solidFill>
              </a:rPr>
              <a:t>The thesis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A36E20-59D3-4A9A-9985-EB3B0C085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24450"/>
            <a:ext cx="904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B1714"/>
                </a:solidFill>
              </a:defRPr>
            </a:pPr>
            <a:r>
              <a:rPr sz="1950" b="1">
                <a:solidFill>
                  <a:srgbClr val="0B1714"/>
                </a:solidFill>
              </a:rPr>
              <a:t>Use generative AI to retrieve and explain. Use deterministic code to guarantee feasibility.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6B069A-86DD-401E-99FF-290DB581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62103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Nima Asadi + project partner  ·  Howest  ·  August 2026</a:t>
            </a:r>
          </a:p>
        </p:txBody>
      </p:sp>
    </p:spTree>
    <p:extLst>
      <p:ext uri="{BB962C8B-B14F-4D97-AF65-F5344CB8AC3E}">
        <p14:creationId xmlns:p14="http://schemas.microsoft.com/office/powerpoint/2010/main" val="8097167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2084CEF-891D-49A1-8A37-3D01FB14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7209173-FECC-46C1-BAB7-D3D09F57C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A fluent answer can still be an invalid schedule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8B7932-915E-4831-AE8A-0FB6B373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C7C76"/>
                </a:solidFill>
              </a:defRPr>
            </a:pPr>
            <a:r>
              <a:rPr sz="1725">
                <a:solidFill>
                  <a:srgbClr val="6C7C76"/>
                </a:solidFill>
              </a:rPr>
              <a:t>Household flexibility combines evidence, deadlines and a hard power limit.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724F7-F35E-41D4-8CC5-BBB13EC9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241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741A41-F99C-4B4E-9446-FF491BD82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479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DEADLINES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0EBA35-8BF3-40EE-B68C-43F35DB8B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24384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EV, dishwasher and laundry must finish on time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6A8834-8773-44DE-A698-DA7F3A436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EEF8D8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0D835-EFD5-45A9-B87C-D7F95B856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4385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COMFORT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B0264C-0F88-4D42-AB65-3E3D7854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290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Heat-pump timing must respect the household policy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93F04D-53DD-4A31-AA70-38CCDFBAA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05300"/>
            <a:ext cx="47625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5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DF5283-1649-4DC0-BAF6-86A6A16EE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429125"/>
            <a:ext cx="1143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CAPACITY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5B2EA2-CC17-421E-8B13-2977EAC3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4419600"/>
            <a:ext cx="3105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Hourly controllable load must remain ≤ 4.6 kW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A5BB38-2F2B-4AA5-9757-485CB8DCB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66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6C7C76"/>
                </a:solidFill>
              </a:defRPr>
            </a:pPr>
            <a:r>
              <a:rPr sz="1800" b="1">
                <a:solidFill>
                  <a:srgbClr val="6C7C76"/>
                </a:solidFill>
              </a:rPr>
              <a:t>Generic chatbot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299CEE-3714-4186-8E95-47F7D8A47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762250"/>
            <a:ext cx="37147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3E5"/>
          </a:solidFill>
          <a:ln xmlns:a="http://schemas.openxmlformats.org/drawingml/2006/main" w="9525">
            <a:solidFill>
              <a:srgbClr val="F3A65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72B8EA-18B4-4F16-9235-9846DD062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990850"/>
            <a:ext cx="3028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0B1714"/>
                </a:solidFill>
              </a:defRPr>
            </a:pPr>
            <a:r>
              <a:rPr sz="2100" b="1">
                <a:solidFill>
                  <a:srgbClr val="0B1714"/>
                </a:solidFill>
              </a:rPr>
              <a:t>Sounds helpful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B568C6-BDD2-4CC3-B5A3-49338A26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371850"/>
            <a:ext cx="302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>
                <a:solidFill>
                  <a:srgbClr val="6C7C76"/>
                </a:solidFill>
              </a:defRPr>
            </a:pPr>
            <a:r>
              <a:rPr sz="1425">
                <a:solidFill>
                  <a:srgbClr val="6C7C76"/>
                </a:solidFill>
              </a:rPr>
              <a:t>but can violate numeric constraints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A7144-CD8C-49C3-BA36-8F4E9E37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867150"/>
            <a:ext cx="190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A65A"/>
          </a:solidFill>
          <a:ln xmlns:a="http://schemas.openxmlformats.org/drawingml/2006/main" w="0">
            <a:solidFill>
              <a:srgbClr val="F3A65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EF46DB-3286-48DA-AC29-6BCAC992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514850"/>
            <a:ext cx="4095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FlexiGrid AI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A084933-9B1C-4658-BCEB-14683F7CF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029200"/>
            <a:ext cx="3714750" cy="97155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0B1714"/>
          </a:solidFill>
          <a:ln xmlns:a="http://schemas.openxmlformats.org/drawingml/2006/main" w="9525">
            <a:solidFill>
              <a:srgbClr val="0B171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E6D2C7-FA91-432C-9024-3F918A12C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276850"/>
            <a:ext cx="3067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>
                <a:solidFill>
                  <a:srgbClr val="FFFFFF"/>
                </a:solidFill>
              </a:defRPr>
            </a:pPr>
            <a:r>
              <a:rPr sz="2025" b="1">
                <a:solidFill>
                  <a:srgbClr val="FFFFFF"/>
                </a:solidFill>
              </a:rPr>
              <a:t>Generate only after validation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111BF0-E90D-4E26-A890-25288CF02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8AC017-324C-49CF-BA70-97C9C39EB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4D64650-87D8-43F1-8676-15AA55B8A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02 / 08</a:t>
            </a:r>
          </a:p>
        </p:txBody>
      </p:sp>
    </p:spTree>
    <p:extLst>
      <p:ext uri="{BB962C8B-B14F-4D97-AF65-F5344CB8AC3E}">
        <p14:creationId xmlns:p14="http://schemas.microsoft.com/office/powerpoint/2010/main" val="6462150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37B7F0-DC07-4B3F-A5BD-A2CF00102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DATA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F9F2EE9-5176-44BF-844B-0FC627DC1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Elia provides the Belgian grid-data contract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8C6E9B-E849-411E-ACA8-7C667E475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C7C76"/>
                </a:solidFill>
              </a:defRPr>
            </a:pPr>
            <a:r>
              <a:rPr sz="1725">
                <a:solidFill>
                  <a:srgbClr val="6C7C76"/>
                </a:solidFill>
              </a:rPr>
              <a:t>The live adapter retrieves raw records; the exam demo uses a labelled frozen fixture.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51B046-3622-4F78-9E3D-8BD393B2F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050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C7C76"/>
                </a:solidFill>
              </a:defRPr>
            </a:pPr>
            <a:r>
              <a:rPr sz="1050" b="1">
                <a:solidFill>
                  <a:srgbClr val="6C7C76"/>
                </a:solidFill>
              </a:rPr>
              <a:t>DATASET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A4B59D-ED49-4C49-97FC-D85062E31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3050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C7C76"/>
                </a:solidFill>
              </a:defRPr>
            </a:pPr>
            <a:r>
              <a:rPr sz="1050" b="1">
                <a:solidFill>
                  <a:srgbClr val="6C7C76"/>
                </a:solidFill>
              </a:rPr>
              <a:t>OFFICIAL CONTENT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62181-881D-43C6-8FFA-CDA21D4F8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050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6C7C76"/>
                </a:solidFill>
              </a:defRPr>
            </a:pPr>
            <a:r>
              <a:rPr sz="1050" b="1">
                <a:solidFill>
                  <a:srgbClr val="6C7C76"/>
                </a:solidFill>
              </a:rPr>
              <a:t>ROLE IN PROTOTYPE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A3BD6F-89A3-4678-B065-625ED2EA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0985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6219C8-F805-4555-BE41-4B622B602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03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C7C66"/>
                </a:solidFill>
              </a:defRPr>
            </a:pPr>
            <a:r>
              <a:rPr sz="2025" b="1">
                <a:solidFill>
                  <a:srgbClr val="1C7C66"/>
                </a:solidFill>
              </a:rPr>
              <a:t>ods002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B763D1-CCE7-44E7-8F30-3C5100A1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8003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B1714"/>
                </a:solidFill>
              </a:defRPr>
            </a:pPr>
            <a:r>
              <a:rPr sz="1725">
                <a:solidFill>
                  <a:srgbClr val="0B1714"/>
                </a:solidFill>
              </a:rPr>
              <a:t>Measured + forecast total 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E721A-8DF9-4E80-8256-861E5B3F8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8003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intended load-pressure feature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CF03D-B8E5-4A1F-B821-8B7033B10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909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83ECF-A203-4741-A431-3C5DD057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385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C7C66"/>
                </a:solidFill>
              </a:defRPr>
            </a:pPr>
            <a:r>
              <a:rPr sz="2025" b="1">
                <a:solidFill>
                  <a:srgbClr val="1C7C66"/>
                </a:solidFill>
              </a:rPr>
              <a:t>ods086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4AFE5E-F0DE-4F2B-8952-813B65F36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385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B1714"/>
                </a:solidFill>
              </a:defRPr>
            </a:pPr>
            <a:r>
              <a:rPr sz="1725">
                <a:solidFill>
                  <a:srgbClr val="0B1714"/>
                </a:solidFill>
              </a:rPr>
              <a:t>Wind power forecast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8EAFA5-04AD-4067-8DBE-84CD25200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6385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intended renewable-opportunity feature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7470A-947A-4D40-A3BB-69AF75226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291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3EA0DA-2247-41F6-8A27-D9EC05A10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767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C7C66"/>
                </a:solidFill>
              </a:defRPr>
            </a:pPr>
            <a:r>
              <a:rPr sz="2025" b="1">
                <a:solidFill>
                  <a:srgbClr val="1C7C66"/>
                </a:solidFill>
              </a:rPr>
              <a:t>ods201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5EEFAD-156A-48F2-BE0D-88882ACED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76750"/>
            <a:ext cx="409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0B1714"/>
                </a:solidFill>
              </a:defRPr>
            </a:pPr>
            <a:r>
              <a:rPr sz="1725">
                <a:solidFill>
                  <a:srgbClr val="0B1714"/>
                </a:solidFill>
              </a:rPr>
              <a:t>Generation by fuel type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E657E1-469D-443E-8082-7FB54C08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76750"/>
            <a:ext cx="3905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26352F"/>
                </a:solidFill>
              </a:defRPr>
            </a:pPr>
            <a:r>
              <a:rPr sz="1575">
                <a:solidFill>
                  <a:srgbClr val="26352F"/>
                </a:solidFill>
              </a:rPr>
              <a:t>generation-mix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4C81FB2-A957-42C8-96F9-1018A1EC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7061AB-9423-4AFD-A758-D7921999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72100"/>
            <a:ext cx="1082040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3E5"/>
          </a:solidFill>
          <a:ln xmlns:a="http://schemas.openxmlformats.org/drawingml/2006/main" w="9525">
            <a:solidFill>
              <a:srgbClr val="F3A65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37BE5D4-4B37-4C4C-A9D9-55874E346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54355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B46931"/>
                </a:solidFill>
              </a:defRPr>
            </a:pPr>
            <a:r>
              <a:rPr sz="1350" b="1">
                <a:solidFill>
                  <a:srgbClr val="B46931"/>
                </a:solidFill>
              </a:rPr>
              <a:t>Honest boundary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6CB708-AB84-4E61-B90E-87CA5C0E2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51497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6352F"/>
                </a:solidFill>
              </a:defRPr>
            </a:pPr>
            <a:r>
              <a:rPr sz="1650" b="1">
                <a:solidFill>
                  <a:srgbClr val="26352F"/>
                </a:solidFill>
              </a:rPr>
              <a:t>The 0-100 stress series is representative demo data—not a live Elia observation. Retail tariff is separate.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A5F3BD4-4D48-457D-9526-469FDD4A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5AA72C3-A3FC-44E0-837C-5C327E4F3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9CE86C-B232-42E7-A5BF-8007152A1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03 / 08</a:t>
            </a:r>
          </a:p>
        </p:txBody>
      </p:sp>
    </p:spTree>
    <p:extLst>
      <p:ext uri="{BB962C8B-B14F-4D97-AF65-F5344CB8AC3E}">
        <p14:creationId xmlns:p14="http://schemas.microsoft.com/office/powerpoint/2010/main" val="12434435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1902F7-27D9-4C7D-9BD3-850690C8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ARCHITECTURE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96198E-FFE3-4BEC-8B84-1843A6368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Generative where useful. Deterministic where necessary.</a:t>
            </a:r>
          </a:p>
        </p:txBody>
      </p:sp>
      <p:sp>
        <p:nvSpPr>
          <p:cNvPr id="3" name="node-1">
            <a:extLst xmlns:a="http://schemas.openxmlformats.org/drawingml/2006/main">
              <a:ext uri="{FF2B5EF4-FFF2-40B4-BE49-F238E27FC236}">
                <a16:creationId xmlns:a16="http://schemas.microsoft.com/office/drawing/2014/main" id="{7BC0280E-EAEE-4CE3-AA87-9719D689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62200"/>
            <a:ext cx="1752600" cy="20002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4" name="node-2">
            <a:extLst xmlns:a="http://schemas.openxmlformats.org/drawingml/2006/main">
              <a:ext uri="{FF2B5EF4-FFF2-40B4-BE49-F238E27FC236}">
                <a16:creationId xmlns:a16="http://schemas.microsoft.com/office/drawing/2014/main" id="{DCDC8184-2BA0-4AC3-A219-32DDDACE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362200"/>
            <a:ext cx="1752600" cy="20002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5" name="node-3">
            <a:extLst xmlns:a="http://schemas.openxmlformats.org/drawingml/2006/main">
              <a:ext uri="{FF2B5EF4-FFF2-40B4-BE49-F238E27FC236}">
                <a16:creationId xmlns:a16="http://schemas.microsoft.com/office/drawing/2014/main" id="{3B8AB67F-830B-4E48-88DA-AF11A07F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2362200"/>
            <a:ext cx="1752600" cy="20002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6" name="node-4">
            <a:extLst xmlns:a="http://schemas.openxmlformats.org/drawingml/2006/main">
              <a:ext uri="{FF2B5EF4-FFF2-40B4-BE49-F238E27FC236}">
                <a16:creationId xmlns:a16="http://schemas.microsoft.com/office/drawing/2014/main" id="{DA022FDE-AA39-4FD6-BA39-B8EACD3E3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362200"/>
            <a:ext cx="1752600" cy="20002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0B1714"/>
          </a:solidFill>
          <a:ln xmlns:a="http://schemas.openxmlformats.org/drawingml/2006/main" w="9525">
            <a:solidFill>
              <a:srgbClr val="0B1714"/>
            </a:solidFill>
            <a:prstDash val="solid"/>
          </a:ln>
        </p:spPr>
      </p:sp>
      <p:sp>
        <p:nvSpPr>
          <p:cNvPr id="7" name="node-5">
            <a:extLst xmlns:a="http://schemas.openxmlformats.org/drawingml/2006/main">
              <a:ext uri="{FF2B5EF4-FFF2-40B4-BE49-F238E27FC236}">
                <a16:creationId xmlns:a16="http://schemas.microsoft.com/office/drawing/2014/main" id="{D03C964D-8F9A-462D-B5D4-47A00F63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62200"/>
            <a:ext cx="1752600" cy="2000250"/>
          </a:xfrm>
          <a:prstGeom xmlns:a="http://schemas.openxmlformats.org/drawingml/2006/main" prst="roundRect">
            <a:avLst>
              <a:gd name="adj" fmla="val 6522"/>
            </a:avLst>
          </a:prstGeom>
          <a:solidFill xmlns:a="http://schemas.openxmlformats.org/drawingml/2006/main">
            <a:srgbClr val="EEF8D8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cxnSp>
        <p:nvCxnSpPr>
          <p:cNvPr id="40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2438400" y="33623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C7C76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4648200" y="33623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C7C76"/>
            </a:solidFill>
            <a:prstDash val="solid"/>
            <a:tailEnd type="arrow" w="sm" len="sm"/>
          </a:ln>
        </p:spPr>
      </p:cxnSp>
      <p:cxnSp>
        <p:nvCxnSpPr>
          <p:cNvPr id="42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6858000" y="33623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C7C76"/>
            </a:solidFill>
            <a:prstDash val="solid"/>
            <a:tailEnd type="arrow" w="sm" len="sm"/>
          </a:ln>
        </p:spPr>
      </p:cxnSp>
      <p:cxnSp>
        <p:nvCxnSpPr>
          <p:cNvPr id="4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9067800" y="33623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6C7C76"/>
            </a:solidFill>
            <a:prstDash val="solid"/>
            <a:tailEnd type="arrow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F9F63A-0B10-4A88-A9FF-356F4598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336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4B3093-4316-4A87-A4D2-C20DEC759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718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Bounded mission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805B33-DA40-419F-97A1-F9524A648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typed scenario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C14C9D-6018-48FB-B64B-B52DCF894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5336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E1BE1-273E-4596-A289-2F97EB36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9718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Lexical RAG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3B25D8-5A48-4FBC-A6B7-2521ACDB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90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top-k evidence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2B0B76-5F75-4216-B872-FA0F2C26B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5336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059853-05B8-4213-976B-FAF50C295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9718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MCP tools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5031F6-69F0-4671-B772-241D6AB47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790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typed contracts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6E570E-069E-46EB-A8E5-D2C9C2212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5336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AEE637"/>
                </a:solidFill>
              </a:defRPr>
            </a:pPr>
            <a:r>
              <a:rPr sz="1125" b="1">
                <a:solidFill>
                  <a:srgbClr val="AEE637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5D05098-AC17-4EA3-882C-070D6D2D7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29718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</a:defRPr>
            </a:pPr>
            <a:r>
              <a:rPr sz="1875" b="1">
                <a:solidFill>
                  <a:srgbClr val="FFFFFF"/>
                </a:solidFill>
              </a:rPr>
              <a:t>Planner + critic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546513-7E38-4FC9-B27E-BB01B2E5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3790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9BBB4"/>
                </a:solidFill>
              </a:defRPr>
            </a:pPr>
            <a:r>
              <a:rPr sz="1275">
                <a:solidFill>
                  <a:srgbClr val="A9BBB4"/>
                </a:solidFill>
              </a:rPr>
              <a:t>hard constraints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912B36-2238-431C-BF20-43CB9F3E0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533650"/>
            <a:ext cx="495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7B15DB-4B56-43B9-9131-67C7A3BA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971800"/>
            <a:ext cx="1428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Cited answer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AC4144B-414B-497A-8E5B-9F7DD1CC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790950"/>
            <a:ext cx="1428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structured 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5D92DF-77FC-4BC6-8F4A-4267B6E95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4895850"/>
            <a:ext cx="883920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21CF96-71C1-4506-A596-76B4E0B22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09587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C7C66"/>
                </a:solidFill>
              </a:defRPr>
            </a:pPr>
            <a:r>
              <a:rPr sz="1350" b="1">
                <a:solidFill>
                  <a:srgbClr val="1C7C66"/>
                </a:solidFill>
              </a:rPr>
              <a:t>Critical rule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0E110-1BA9-4B8B-8084-8458C79F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048250"/>
            <a:ext cx="676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1714"/>
                </a:solidFill>
              </a:defRPr>
            </a:pPr>
            <a:r>
              <a:rPr sz="1800" b="1">
                <a:solidFill>
                  <a:srgbClr val="0B1714"/>
                </a:solidFill>
              </a:rPr>
              <a:t>The model cannot change task times; it can only explain a schedule that already passed validation.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CA5D72-F251-4FB6-967F-A01E69F64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71C673-315B-41E9-BE23-3E9449BC3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6F1007-9EC8-4EAC-8865-868833EA5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04 / 08</a:t>
            </a:r>
          </a:p>
        </p:txBody>
      </p:sp>
    </p:spTree>
    <p:extLst>
      <p:ext uri="{BB962C8B-B14F-4D97-AF65-F5344CB8AC3E}">
        <p14:creationId xmlns:p14="http://schemas.microsoft.com/office/powerpoint/2010/main" val="102120069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56E6AAA-8A94-40BD-A6CB-FD2D3A61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ALGORITHM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17B64CA-F765-4586-B367-6301CE546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Validation caught a real greedy-planning defect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E661A-3178-4F3C-98A2-6EF24559C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C7C76"/>
                </a:solidFill>
              </a:defRPr>
            </a:pPr>
            <a:r>
              <a:rPr sz="1725">
                <a:solidFill>
                  <a:srgbClr val="6C7C76"/>
                </a:solidFill>
              </a:rPr>
              <a:t>Locally attractive placement can destroy global feasibility.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D93355-26E3-44A0-9F46-D002A08B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46931"/>
                </a:solidFill>
              </a:defRPr>
            </a:pPr>
            <a:r>
              <a:rPr sz="1275" b="1">
                <a:solidFill>
                  <a:srgbClr val="B46931"/>
                </a:solidFill>
              </a:rPr>
              <a:t>BEFORE  ·  GREEDY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2DEA2B-8D76-4D4D-BB12-C3823B8F4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247900"/>
            <a:ext cx="4095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7C66"/>
                </a:solidFill>
              </a:defRPr>
            </a:pPr>
            <a:r>
              <a:rPr sz="1275" b="1">
                <a:solidFill>
                  <a:srgbClr val="1C7C66"/>
                </a:solidFill>
              </a:rPr>
              <a:t>AFTER  ·  JOINT 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FD6215-1573-44B5-BC88-FDCB26B9F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171700"/>
            <a:ext cx="19050" cy="3371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D9569-CA0C-4251-A3C5-A4F60E880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241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03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39BBF-AA9D-4371-88FF-305F3E22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75C0C7-A5B3-4637-A6E5-6F0FAF662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0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05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C757405-3B94-4975-894E-9592AF30A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57500"/>
            <a:ext cx="432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2B492B-EA19-4907-968C-139FE26C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38550"/>
            <a:ext cx="432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FB1EE-27A4-4600-BCC8-0AF4EA702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43243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0049AF-8C1B-419A-AA95-F9983C3AA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628900"/>
            <a:ext cx="2381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FFF3E5"/>
          </a:solidFill>
          <a:ln xmlns:a="http://schemas.openxmlformats.org/drawingml/2006/main" w="9525">
            <a:solidFill>
              <a:srgbClr val="F3A65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00CD23-6DB4-4467-94A8-90E44D0ED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733675"/>
            <a:ext cx="1866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714"/>
                </a:solidFill>
              </a:defRPr>
            </a:pPr>
            <a:r>
              <a:rPr sz="1575" b="1">
                <a:solidFill>
                  <a:srgbClr val="0B1714"/>
                </a:solidFill>
              </a:rPr>
              <a:t>EV placed first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0C6B0F-BCE2-4E97-B554-5F8B1E5B9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9950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EEF3F0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01E940-67D9-438E-8543-BF1228E29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14725"/>
            <a:ext cx="173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6931"/>
                </a:solidFill>
              </a:defRPr>
            </a:pPr>
            <a:r>
              <a:rPr sz="1425" b="1">
                <a:solidFill>
                  <a:srgbClr val="B46931"/>
                </a:solidFill>
              </a:rPr>
              <a:t>Heat window blocked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913EC8-6EFA-4DD8-AD80-E562FC3EF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96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B46931"/>
                </a:solidFill>
              </a:defRPr>
            </a:pPr>
            <a:r>
              <a:rPr sz="2100" b="1">
                <a:solidFill>
                  <a:srgbClr val="B46931"/>
                </a:solidFill>
              </a:rPr>
              <a:t>No feasible completion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84A24D-1F78-4C24-99EB-6D32B7921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860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65A4A7-ACC0-424C-B1DD-55845E6F9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6479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1714"/>
                </a:solidFill>
              </a:defRPr>
            </a:pPr>
            <a:r>
              <a:rPr sz="1650" b="1">
                <a:solidFill>
                  <a:srgbClr val="0B1714"/>
                </a:solidFill>
              </a:rPr>
              <a:t>Enumerate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CA887E8-3E65-4959-88D2-93EA7F464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670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every feasible start per task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E60DF7-9334-4E7C-968C-0850FCFF9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648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F1605-5428-4FA5-9E0B-9E13D8081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528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3E28BC-8B23-4068-9671-6FFA82DC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3147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1714"/>
                </a:solidFill>
              </a:defRPr>
            </a:pPr>
            <a:r>
              <a:rPr sz="1650" b="1">
                <a:solidFill>
                  <a:srgbClr val="0B1714"/>
                </a:solidFill>
              </a:rPr>
              <a:t>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1ACA49-2AFB-4FF7-B185-9BCC8C782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337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joint assignments under 4.6 kW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8A5B0A-17C8-480B-99EA-5BC40DC1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52850"/>
            <a:ext cx="4648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A0F81A-6C5B-48D3-B8A7-0008EC13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1955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A34452E-A6A2-44BD-8FF6-813D57231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98145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1714"/>
                </a:solidFill>
              </a:defRPr>
            </a:pPr>
            <a:r>
              <a:rPr sz="1650" b="1">
                <a:solidFill>
                  <a:srgbClr val="0B1714"/>
                </a:solidFill>
              </a:rPr>
              <a:t>Prune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CC7539D-F7C3-4EF8-81D7-C81734BC9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0005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partial scores worse than best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8674671-B82E-4180-8DC4-0A00D7FD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419600"/>
            <a:ext cx="4648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716AB4B-A8F6-4390-A085-D4832E04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86300"/>
            <a:ext cx="419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1C7C66"/>
                </a:solidFill>
              </a:defRPr>
            </a:pPr>
            <a:r>
              <a:rPr sz="1125" b="1">
                <a:solidFill>
                  <a:srgbClr val="1C7C66"/>
                </a:solidFill>
              </a:rPr>
              <a:t>04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BDE78A-F0BA-4EE5-8ADB-031921E4A0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648200"/>
            <a:ext cx="1562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0B1714"/>
                </a:solidFill>
              </a:defRPr>
            </a:pPr>
            <a:r>
              <a:rPr sz="1650" b="1">
                <a:solidFill>
                  <a:srgbClr val="0B1714"/>
                </a:solidFill>
              </a:rPr>
              <a:t>Reject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D820B93-C985-4883-A083-ECF5D47F0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672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C7C76"/>
                </a:solidFill>
              </a:defRPr>
            </a:pPr>
            <a:r>
              <a:rPr sz="1275">
                <a:solidFill>
                  <a:srgbClr val="6C7C76"/>
                </a:solidFill>
              </a:rPr>
              <a:t>any invalid complete schedule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532A286-C6C9-409C-AF9E-06DAAD7C4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86350"/>
            <a:ext cx="46482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9574B88-B3F6-4E25-9BF2-9239FD411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562600"/>
            <a:ext cx="4667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Result: feasible or explicit failure—never a persuasive invalid plan.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CDDBA1-961C-4591-9053-892704946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3A2F4B-0551-467C-AE52-E0AE80290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4674BA-78F5-4F16-862D-90C6B29B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05 / 08</a:t>
            </a:r>
          </a:p>
        </p:txBody>
      </p:sp>
    </p:spTree>
    <p:extLst>
      <p:ext uri="{BB962C8B-B14F-4D97-AF65-F5344CB8AC3E}">
        <p14:creationId xmlns:p14="http://schemas.microsoft.com/office/powerpoint/2010/main" val="5525770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7A273C-1E4B-4A45-97C9-0229486B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7EA6B0-37C9-4609-899A-B60E4DE56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The interface makes every decision inspectable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bfa280d5f04eea"/>
          <a:stretch xmlns:a="http://schemas.openxmlformats.org/drawingml/2006/main"/>
        </p:blipFill>
        <p:spPr>
          <a:xfrm xmlns:a="http://schemas.openxmlformats.org/drawingml/2006/main">
            <a:off x="4548548" y="1676400"/>
            <a:ext cx="6600105" cy="4533900"/>
          </a:xfrm>
          <a:prstGeom xmlns:a="http://schemas.openxmlformats.org/drawingml/2006/main" prst="roundRect">
            <a:avLst>
              <a:gd name="adj" fmla="val 2521"/>
            </a:avLst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369662-78D5-4FAB-A479-D4B0F2AD1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0002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C7C66"/>
                </a:solidFill>
              </a:defRPr>
            </a:pPr>
            <a:r>
              <a:rPr sz="1950" b="1">
                <a:solidFill>
                  <a:srgbClr val="1C7C66"/>
                </a:solidFill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6C9F91-55BC-4BD2-9780-C00EADBA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Select a mission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9DB12E-679B-4741-AE64-8A07106EE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622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C7C76"/>
                </a:solidFill>
              </a:defRPr>
            </a:pPr>
            <a:r>
              <a:rPr sz="1350">
                <a:solidFill>
                  <a:srgbClr val="6C7C76"/>
                </a:solidFill>
              </a:rPr>
              <a:t>Morning + Balanced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66BA67-FCD1-4A9E-BA9C-82B3AE0D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2420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C7C66"/>
                </a:solidFill>
              </a:defRPr>
            </a:pPr>
            <a:r>
              <a:rPr sz="1950" b="1">
                <a:solidFill>
                  <a:srgbClr val="1C7C66"/>
                </a:solidFill>
              </a:rPr>
              <a:t>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FFBA47-058A-4E31-A8E7-D6384ABB5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2420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Run the pipeline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6348F7-8646-4CFE-BA9C-FDC605830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8615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C7C76"/>
                </a:solidFill>
              </a:defRPr>
            </a:pPr>
            <a:r>
              <a:rPr sz="1350">
                <a:solidFill>
                  <a:srgbClr val="6C7C76"/>
                </a:solidFill>
              </a:rPr>
              <a:t>RAG → MCP → planner → critic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78ABBC-AB05-44DE-B059-7B3A5735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3619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C7C66"/>
                </a:solidFill>
              </a:defRPr>
            </a:pPr>
            <a:r>
              <a:rPr sz="1950" b="1">
                <a:solidFill>
                  <a:srgbClr val="1C7C66"/>
                </a:solidFill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D3E610-ECA5-4BE0-BCB0-0A9BFB239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481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B1714"/>
                </a:solidFill>
              </a:defRPr>
            </a:pPr>
            <a:r>
              <a:rPr sz="1875" b="1">
                <a:solidFill>
                  <a:srgbClr val="0B1714"/>
                </a:solidFill>
              </a:rPr>
              <a:t>Defend the result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0FB0AC-7E36-473D-A6BA-3116AA681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10100"/>
            <a:ext cx="2571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C7C76"/>
                </a:solidFill>
              </a:defRPr>
            </a:pPr>
            <a:r>
              <a:rPr sz="1350">
                <a:solidFill>
                  <a:srgbClr val="6C7C76"/>
                </a:solidFill>
              </a:rPr>
              <a:t>metrics, sources and tool trace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86DDF4-2B15-41CB-87B1-2E8FC1EA8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31432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EF8D8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EAC123-4AAF-4398-A40E-099579D1A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00700"/>
            <a:ext cx="2724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0B1714"/>
                </a:solidFill>
              </a:defRPr>
            </a:pPr>
            <a:r>
              <a:rPr sz="2175" b="1">
                <a:solidFill>
                  <a:srgbClr val="0B1714"/>
                </a:solidFill>
              </a:rPr>
              <a:t>4/4 constraints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80CEC2A-A750-46BA-8F6B-129D14D9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9245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1C7C66"/>
                </a:solidFill>
              </a:defRPr>
            </a:pPr>
            <a:r>
              <a:rPr sz="1125">
                <a:solidFill>
                  <a:srgbClr val="1C7C66"/>
                </a:solidFill>
              </a:rPr>
              <a:t>machine-validated before explanation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907A26-64C0-42C2-BE5D-C1D497256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49294D-DA31-4687-9574-0F9EC187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DD2EA2-E77E-4345-A1EB-A26EEC4D9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06 / 08</a:t>
            </a:r>
          </a:p>
        </p:txBody>
      </p:sp>
    </p:spTree>
    <p:extLst>
      <p:ext uri="{BB962C8B-B14F-4D97-AF65-F5344CB8AC3E}">
        <p14:creationId xmlns:p14="http://schemas.microsoft.com/office/powerpoint/2010/main" val="73066430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AE381-5EF5-4FBA-8AF7-CCCA60A8C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EVALUATION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0A591B8-B9C4-4EF4-BA3F-3AF9E305C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Measure correctness before fluency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F101B5-1D32-4783-B104-ED96C21F0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0175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6C7C76"/>
                </a:solidFill>
              </a:defRPr>
            </a:pPr>
            <a:r>
              <a:rPr sz="1725">
                <a:solidFill>
                  <a:srgbClr val="6C7C76"/>
                </a:solidFill>
              </a:rPr>
              <a:t>All displayed results are recalculated from deterministic fixture runs.</a:t>
            </a:r>
          </a:p>
        </p:txBody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685800" y="2362200"/>
          <a:ext xmlns:a="http://schemas.openxmlformats.org/drawingml/2006/main" cx="5715000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1c77946789844ab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A96660-6179-4D52-BFA5-59E3CE4FF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5715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B2618E-9D62-43F3-B52B-2B95C9161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2952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>
                <a:solidFill>
                  <a:srgbClr val="6C7C76"/>
                </a:solidFill>
              </a:defRPr>
            </a:pPr>
            <a:r>
              <a:rPr sz="975">
                <a:solidFill>
                  <a:srgbClr val="6C7C76"/>
                </a:solidFill>
              </a:rPr>
              <a:t>Exact € values shown at bar ends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06C35E9-96A4-4237-A0E4-4BC584CF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0025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714"/>
                </a:solidFill>
              </a:defRPr>
            </a:pPr>
            <a:r>
              <a:rPr sz="1575" b="1">
                <a:solidFill>
                  <a:srgbClr val="0B1714"/>
                </a:solidFill>
              </a:rPr>
              <a:t>Morning fixture energy cost (€)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5A049A-CF01-47F9-966C-EC87F1AD1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62500"/>
            <a:ext cx="2381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0B1714"/>
          </a:solidFill>
          <a:ln xmlns:a="http://schemas.openxmlformats.org/drawingml/2006/main" w="9525">
            <a:solidFill>
              <a:srgbClr val="0B171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50EDC-3370-4A32-93AC-A344FA85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9149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FB1AA"/>
                </a:solidFill>
              </a:defRPr>
            </a:pPr>
            <a:r>
              <a:rPr sz="975" b="1">
                <a:solidFill>
                  <a:srgbClr val="9FB1AA"/>
                </a:solidFill>
              </a:rPr>
              <a:t>CONSTRAINT PASS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C56F5F-5EBC-477E-91A3-93CE16DB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1816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AEE637"/>
                </a:solidFill>
              </a:defRPr>
            </a:pPr>
            <a:r>
              <a:rPr sz="2550" b="1">
                <a:solidFill>
                  <a:srgbClr val="AEE637"/>
                </a:solidFill>
              </a:rPr>
              <a:t>9 / 9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C356A3-6FBC-4425-9B6F-DD95E7069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6197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B9C8C2"/>
                </a:solidFill>
              </a:defRPr>
            </a:pPr>
            <a:r>
              <a:rPr sz="1050">
                <a:solidFill>
                  <a:srgbClr val="B9C8C2"/>
                </a:solidFill>
              </a:rPr>
              <a:t>scenario-objective runs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92BBF55-F3D4-4879-88B8-222DA23D8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762500"/>
            <a:ext cx="2381250" cy="1190625"/>
          </a:xfrm>
          <a:prstGeom xmlns:a="http://schemas.openxmlformats.org/drawingml/2006/main" prst="roundRect">
            <a:avLst>
              <a:gd name="adj" fmla="val 96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DE6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BB1390F-FD7C-40EC-B4CD-2DEEC1239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4914900"/>
            <a:ext cx="2038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C7C76"/>
                </a:solidFill>
              </a:defRPr>
            </a:pPr>
            <a:r>
              <a:rPr sz="975" b="1">
                <a:solidFill>
                  <a:srgbClr val="6C7C76"/>
                </a:solidFill>
              </a:rPr>
              <a:t>PEAK LOAD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C9803-B0E8-4E82-8BBC-CC698C3B3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181600"/>
            <a:ext cx="2038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0B1714"/>
                </a:solidFill>
              </a:defRPr>
            </a:pPr>
            <a:r>
              <a:rPr sz="2550" b="1">
                <a:solidFill>
                  <a:srgbClr val="0B1714"/>
                </a:solidFill>
              </a:rPr>
              <a:t>3.6 kW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BFE8F6-C89D-4542-AFD7-89795223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5619750"/>
            <a:ext cx="2038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1C7C66"/>
                </a:solidFill>
              </a:defRPr>
            </a:pPr>
            <a:r>
              <a:rPr sz="1050">
                <a:solidFill>
                  <a:srgbClr val="1C7C66"/>
                </a:solidFill>
              </a:rPr>
              <a:t>under the 4.6 kW cap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EEF088-2788-460C-BC46-B2160C05E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362200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Retrieval check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D7F3A1-09A8-435D-8CBB-B8EAC310F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686050"/>
            <a:ext cx="4476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0B1714"/>
                </a:solidFill>
              </a:defRPr>
            </a:pPr>
            <a:r>
              <a:rPr sz="1950" b="1">
                <a:solidFill>
                  <a:srgbClr val="0B1714"/>
                </a:solidFill>
              </a:rPr>
              <a:t>EV manual ranks first for the labelled EV query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FEC493B-EA88-4914-A09D-911C8ADAB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524250"/>
            <a:ext cx="4857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3E5"/>
          </a:solidFill>
          <a:ln xmlns:a="http://schemas.openxmlformats.org/drawingml/2006/main" w="9525">
            <a:solidFill>
              <a:srgbClr val="F3A65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0B0D96-8BEF-44CA-BFD4-EA3951EFB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2667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B46931"/>
                </a:solidFill>
              </a:defRPr>
            </a:pPr>
            <a:r>
              <a:rPr sz="1425" b="1">
                <a:solidFill>
                  <a:srgbClr val="B46931"/>
                </a:solidFill>
              </a:rPr>
              <a:t>Not an LLM benchmark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C156C28-0719-4E56-ACDD-5AD9F1CB8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00500"/>
            <a:ext cx="4324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26352F"/>
                </a:solidFill>
              </a:defRPr>
            </a:pPr>
            <a:r>
              <a:rPr sz="1350">
                <a:solidFill>
                  <a:srgbClr val="26352F"/>
                </a:solidFill>
              </a:rPr>
              <a:t>30+ held-out prompts remain future evaluation work.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AE7BE29-FEF0-44D4-9D85-778ED821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CE9D39-8F39-4192-9D61-CC63A8117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87F9A1-95DF-40EF-9401-37D80CCA0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07 / 08</a:t>
            </a:r>
          </a:p>
        </p:txBody>
      </p:sp>
    </p:spTree>
    <p:extLst>
      <p:ext uri="{BB962C8B-B14F-4D97-AF65-F5344CB8AC3E}">
        <p14:creationId xmlns:p14="http://schemas.microsoft.com/office/powerpoint/2010/main" val="67026108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696A94C-260D-4916-ACE9-C8564F3D4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C7C66"/>
                </a:solidFill>
              </a:defRPr>
            </a:pPr>
            <a:r>
              <a:rPr sz="1200" b="1">
                <a:solidFill>
                  <a:srgbClr val="1C7C66"/>
                </a:solidFill>
              </a:rPr>
              <a:t>CONCLUSION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D6C6AAD-F74F-4AC7-ABCD-962D8DDC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0820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0B1714"/>
                </a:solidFill>
              </a:defRPr>
            </a:pPr>
            <a:r>
              <a:rPr sz="3600" b="1">
                <a:solidFill>
                  <a:srgbClr val="0B1714"/>
                </a:solidFill>
              </a:rPr>
              <a:t>A strong prototype is precise about what it proves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FE84CB-D7B1-4B6D-B2ED-871F47003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57400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1C7C66"/>
                </a:solidFill>
              </a:defRPr>
            </a:pPr>
            <a:r>
              <a:rPr sz="1275" b="1">
                <a:solidFill>
                  <a:srgbClr val="1C7C66"/>
                </a:solidFill>
              </a:rPr>
              <a:t>PROVEN NOW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A4CE4A-A8AC-4787-8E3D-F2D54EAA7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✓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3756BB-4771-4A4F-86A7-1CB2CCB9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146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Bounded missions produce feasible schedules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F60592-EBEC-4C0B-A727-5F566561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B0747A-F80C-4A6A-BC7B-1596046B7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051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RAG evidence and MCP contracts stay inspectable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2309C-06CE-405A-84B0-CC71B52F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✓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3DD062-9182-42EA-B43D-01B4FFA35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9570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Structured explanation cannot invent citation 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2CF77B-1D65-4A54-9832-6B9E8BF2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C7C66"/>
                </a:solidFill>
              </a:defRPr>
            </a:pPr>
            <a:r>
              <a:rPr sz="1800" b="1">
                <a:solidFill>
                  <a:srgbClr val="1C7C66"/>
                </a:solidFill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1A6129-7F1D-4B27-B9F4-0A893085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286250"/>
            <a:ext cx="447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The demo survives API and model unavailability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B6755C-363B-4713-9A57-5DDF3A070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943100"/>
            <a:ext cx="1905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869362-1EB6-4898-A13D-85B4A9284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57400"/>
            <a:ext cx="295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B46931"/>
                </a:solidFill>
              </a:defRPr>
            </a:pPr>
            <a:r>
              <a:rPr sz="1275" b="1">
                <a:solidFill>
                  <a:srgbClr val="B46931"/>
                </a:solidFill>
              </a:rPr>
              <a:t>NEXT VALIDATION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B609E8-2E41-465C-ABA8-2B2B451D2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336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3A65A"/>
                </a:solidFill>
              </a:defRPr>
            </a:pPr>
            <a:r>
              <a:rPr sz="1800" b="1">
                <a:solidFill>
                  <a:srgbClr val="F3A65A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7A50441-7712-4709-B2E6-B4CDAC4B9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5146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Schema-tested live Elia normalization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767104D-D691-4DCF-96B5-118B3A035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1242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3A65A"/>
                </a:solidFill>
              </a:defRPr>
            </a:pPr>
            <a:r>
              <a:rPr sz="1800" b="1">
                <a:solidFill>
                  <a:srgbClr val="F3A65A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D522C-47FF-4DD2-A320-DE8E90981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1051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30+ held-out prompts with recall@4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0CCFD7-2E0B-4DCB-912F-3D3FB430B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71475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3A65A"/>
                </a:solidFill>
              </a:defRPr>
            </a:pPr>
            <a:r>
              <a:rPr sz="1800" b="1">
                <a:solidFill>
                  <a:srgbClr val="F3A65A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E3B1FA-FEF4-44B9-9AEF-56AB0D0F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69570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MILP or CP-SAT at production scale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C36850-1D74-48B9-AD06-73B93E2F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05300"/>
            <a:ext cx="304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F3A65A"/>
                </a:solidFill>
              </a:defRPr>
            </a:pPr>
            <a:r>
              <a:rPr sz="1800" b="1">
                <a:solidFill>
                  <a:srgbClr val="F3A65A"/>
                </a:solidFill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08FC3E-14A0-4B71-B654-085B95B95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2862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26352F"/>
                </a:solidFill>
              </a:defRPr>
            </a:pPr>
            <a:r>
              <a:rPr sz="1650">
                <a:solidFill>
                  <a:srgbClr val="26352F"/>
                </a:solidFill>
              </a:rPr>
              <a:t>Supplier tariff and device integration tests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6508A0-7C7E-421B-86BF-7EF144894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108204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1714"/>
          </a:solidFill>
          <a:ln xmlns:a="http://schemas.openxmlformats.org/drawingml/2006/main" w="9525">
            <a:solidFill>
              <a:srgbClr val="0B1714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EDEE61-7900-42F4-9197-8B0D11FE6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86400"/>
            <a:ext cx="333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AEE637"/>
                </a:solidFill>
              </a:defRPr>
            </a:pPr>
            <a:r>
              <a:rPr sz="1800" b="1">
                <a:solidFill>
                  <a:srgbClr val="AEE637"/>
                </a:solidFill>
              </a:rPr>
              <a:t>One system, shared ownership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DE1799-18AD-4EBC-BAB9-E2C58BB0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467350"/>
            <a:ext cx="685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500">
                <a:solidFill>
                  <a:srgbClr val="FFFFFF"/>
                </a:solidFill>
              </a:defRPr>
            </a:pPr>
            <a:r>
              <a:rPr sz="1500">
                <a:solidFill>
                  <a:srgbClr val="FFFFFF"/>
                </a:solidFill>
              </a:rPr>
              <a:t>Data + backend lead  ·  Interface + evaluation lead  ·  both run every test and defend every layer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889822-3A7D-4CD7-A1FF-420DAEE10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6E1"/>
          </a:solidFill>
          <a:ln xmlns:a="http://schemas.openxmlformats.org/drawingml/2006/main" w="0">
            <a:solidFill>
              <a:srgbClr val="DDE6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0822D5F-5255-4976-A4FC-FE597213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72250"/>
            <a:ext cx="4953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FLEXIGRID AI  ·  GENERATIVE AI PROJECT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D3D18F-C99C-4234-90C1-7788BE1F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65722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00" b="1">
                <a:solidFill>
                  <a:srgbClr val="6C7C76"/>
                </a:solidFill>
              </a:defRPr>
            </a:pPr>
            <a:r>
              <a:rPr sz="900" b="1">
                <a:solidFill>
                  <a:srgbClr val="6C7C76"/>
                </a:solidFill>
              </a:rPr>
              <a:t>08 / 08</a:t>
            </a:r>
          </a:p>
        </p:txBody>
      </p:sp>
    </p:spTree>
    <p:extLst>
      <p:ext uri="{BB962C8B-B14F-4D97-AF65-F5344CB8AC3E}">
        <p14:creationId xmlns:p14="http://schemas.microsoft.com/office/powerpoint/2010/main" val="20412057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2026-08-23T12:34:21.5830000Z</dcterms:created>
  <dcterms:modified xsi:type="dcterms:W3CDTF">2026-08-23T12:34:21.5830000Z</dcterms:modified>
</coreProperties>
</file>